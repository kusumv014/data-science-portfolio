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4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73" r:id="rId12"/>
    <p:sldId id="277" r:id="rId13"/>
    <p:sldId id="274" r:id="rId14"/>
    <p:sldId id="278" r:id="rId15"/>
    <p:sldId id="275" r:id="rId16"/>
    <p:sldId id="279" r:id="rId17"/>
    <p:sldId id="276" r:id="rId18"/>
    <p:sldId id="280" r:id="rId19"/>
    <p:sldId id="266" r:id="rId20"/>
    <p:sldId id="267" r:id="rId21"/>
    <p:sldId id="268" r:id="rId22"/>
    <p:sldId id="281" r:id="rId2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211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5851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1568447"/>
            <a:ext cx="6801440" cy="19431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5400" b="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3511547"/>
            <a:ext cx="6803136" cy="3429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6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200"/>
            </a:lvl2pPr>
            <a:lvl3pPr marL="685800" indent="0" algn="ctr">
              <a:buNone/>
              <a:defRPr sz="12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89070" y="1005942"/>
            <a:ext cx="1165860" cy="395410"/>
          </a:xfrm>
        </p:spPr>
        <p:txBody>
          <a:bodyPr/>
          <a:lstStyle>
            <a:lvl1pPr algn="ctr">
              <a:defRPr sz="975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090422" y="3908295"/>
            <a:ext cx="4429125" cy="17145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3909060"/>
            <a:ext cx="1583911" cy="1714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332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5470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5850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1570732"/>
            <a:ext cx="6803136" cy="1940814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540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3511547"/>
            <a:ext cx="6803136" cy="34290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effectLst/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91356" y="1008377"/>
            <a:ext cx="1165860" cy="397764"/>
          </a:xfrm>
        </p:spPr>
        <p:txBody>
          <a:bodyPr/>
          <a:lstStyle>
            <a:lvl1pPr algn="ctr">
              <a:defRPr lang="en-US" sz="975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0165" y="3908295"/>
            <a:ext cx="4430268" cy="17145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3908295"/>
            <a:ext cx="1584198" cy="17145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5694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774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3612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  <a:latin typeface="+mn-lt"/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66924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002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80026" y="2067436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0466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9045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82325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8308"/>
            <a:ext cx="6398514" cy="4786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5544"/>
            <a:ext cx="1823085" cy="1234440"/>
          </a:xfrm>
        </p:spPr>
        <p:txBody>
          <a:bodyPr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1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457200"/>
            <a:ext cx="5829300" cy="40005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3085" cy="26289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4667252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5934642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2628"/>
            <a:ext cx="1824228" cy="1234440"/>
          </a:xfrm>
        </p:spPr>
        <p:txBody>
          <a:bodyPr anchor="b">
            <a:noAutofit/>
          </a:bodyPr>
          <a:lstStyle>
            <a:lvl1pPr algn="l">
              <a:defRPr sz="21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8308"/>
            <a:ext cx="6398514" cy="4786884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4228" cy="262661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685800" rtl="0" eaLnBrk="1" latinLnBrk="0" hangingPunct="1">
              <a:defRPr lang="en-US" sz="75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4670298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9475749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09742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571500"/>
            <a:ext cx="1771650" cy="39433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571500"/>
            <a:ext cx="6057900" cy="39433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8095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8374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8308"/>
            <a:ext cx="8791956" cy="4786884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0" y="481946"/>
            <a:ext cx="7543800" cy="1028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77340"/>
            <a:ext cx="75438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5740" y="4730754"/>
            <a:ext cx="205740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17470" y="4730754"/>
            <a:ext cx="390906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52410" y="4730754"/>
            <a:ext cx="109728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04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36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37160" indent="-137160" algn="l" defTabSz="685800" rtl="0" eaLnBrk="1" latinLnBrk="0" hangingPunct="1">
        <a:lnSpc>
          <a:spcPct val="100000"/>
        </a:lnSpc>
        <a:spcBef>
          <a:spcPts val="675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0D7C8F">
              <a:alpha val="20000"/>
            </a:srgbClr>
          </a:solidFill>
          <a:ln w="12700">
            <a:solidFill>
              <a:srgbClr val="0D7C8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7132320" y="3200400"/>
            <a:ext cx="1828800" cy="1828800"/>
          </a:xfrm>
          <a:prstGeom prst="ellipse">
            <a:avLst/>
          </a:prstGeom>
          <a:solidFill>
            <a:srgbClr val="E8A838">
              <a:alpha val="15000"/>
            </a:srgbClr>
          </a:solidFill>
          <a:ln w="12700">
            <a:solidFill>
              <a:srgbClr val="E8A83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4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WORK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BI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Analysis Report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" y="3108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Orders Dashboard · Sales &amp; Profit Intelligence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931920"/>
            <a:ext cx="1920240" cy="384048"/>
          </a:xfrm>
          <a:prstGeom prst="roundRect">
            <a:avLst>
              <a:gd name="adj" fmla="val 23810"/>
            </a:avLst>
          </a:prstGeom>
          <a:solidFill>
            <a:srgbClr val="0D7C8F">
              <a:alpha val="30000"/>
            </a:srgbClr>
          </a:solidFill>
          <a:ln w="12700">
            <a:solidFill>
              <a:srgbClr val="14A8B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502920" y="3931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06040" y="3931920"/>
            <a:ext cx="1920240" cy="384048"/>
          </a:xfrm>
          <a:prstGeom prst="roundRect">
            <a:avLst>
              <a:gd name="adj" fmla="val 23810"/>
            </a:avLst>
          </a:prstGeom>
          <a:solidFill>
            <a:srgbClr val="0D7C8F">
              <a:alpha val="30000"/>
            </a:srgbClr>
          </a:solidFill>
          <a:ln w="12700">
            <a:solidFill>
              <a:srgbClr val="14A8B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2606040" y="3931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3931920"/>
            <a:ext cx="1920240" cy="384048"/>
          </a:xfrm>
          <a:prstGeom prst="roundRect">
            <a:avLst>
              <a:gd name="adj" fmla="val 23810"/>
            </a:avLst>
          </a:prstGeom>
          <a:solidFill>
            <a:srgbClr val="0D7C8F">
              <a:alpha val="30000"/>
            </a:srgbClr>
          </a:solidFill>
          <a:ln w="12700">
            <a:solidFill>
              <a:srgbClr val="14A8B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4709160" y="3931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12280" y="3931920"/>
            <a:ext cx="1920240" cy="384048"/>
          </a:xfrm>
          <a:prstGeom prst="roundRect">
            <a:avLst>
              <a:gd name="adj" fmla="val 23810"/>
            </a:avLst>
          </a:prstGeom>
          <a:solidFill>
            <a:srgbClr val="0D7C8F">
              <a:alpha val="30000"/>
            </a:srgbClr>
          </a:solidFill>
          <a:ln w="12700">
            <a:solidFill>
              <a:srgbClr val="14A8B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6812280" y="3931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Encoding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27872A-FF93-CFC5-29FF-28CC97973BE1}"/>
              </a:ext>
            </a:extLst>
          </p:cNvPr>
          <p:cNvSpPr txBox="1"/>
          <p:nvPr/>
        </p:nvSpPr>
        <p:spPr>
          <a:xfrm>
            <a:off x="363415" y="-1049389"/>
            <a:ext cx="8417169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r>
              <a:rPr lang="en-US" sz="2000" dirty="0"/>
              <a:t>“Data Visualization &amp; Modelling of Global Superstore Dataset”</a:t>
            </a:r>
          </a:p>
          <a:p>
            <a:pPr algn="ctr"/>
            <a:r>
              <a:rPr lang="en-US" sz="2000" dirty="0"/>
              <a:t>By </a:t>
            </a:r>
          </a:p>
          <a:p>
            <a:pPr algn="ctr"/>
            <a:r>
              <a:rPr lang="en-US" sz="2000" dirty="0"/>
              <a:t> Ayishath Thasneem Mashoora (</a:t>
            </a:r>
            <a:r>
              <a:rPr lang="en-IN" sz="2000" dirty="0"/>
              <a:t>M01089567</a:t>
            </a:r>
            <a:r>
              <a:rPr lang="en-US" sz="2000" dirty="0"/>
              <a:t>)</a:t>
            </a:r>
          </a:p>
          <a:p>
            <a:pPr algn="ctr"/>
            <a:r>
              <a:rPr lang="en-US" sz="2000" dirty="0"/>
              <a:t> Esther Maina(</a:t>
            </a:r>
            <a:r>
              <a:rPr lang="en-IN" sz="2000" dirty="0"/>
              <a:t>M01088206</a:t>
            </a:r>
            <a:r>
              <a:rPr lang="en-US" sz="2000" dirty="0"/>
              <a:t>)</a:t>
            </a:r>
          </a:p>
          <a:p>
            <a:pPr algn="ctr"/>
            <a:r>
              <a:rPr lang="en-US" sz="2000" dirty="0"/>
              <a:t>  Kusum Anil Vishwakarma(M1093046) </a:t>
            </a:r>
          </a:p>
          <a:p>
            <a:pPr algn="ctr"/>
            <a:endParaRPr lang="en-IN" sz="2000" dirty="0"/>
          </a:p>
          <a:p>
            <a:pPr algn="ctr"/>
            <a:r>
              <a:rPr lang="en-IN" sz="2000" dirty="0">
                <a:solidFill>
                  <a:srgbClr val="FF0000"/>
                </a:solidFill>
              </a:rPr>
              <a:t>DATA VISUALISATION,COMPUTER VISION AND IMAGING – CST4245</a:t>
            </a:r>
          </a:p>
          <a:p>
            <a:pPr algn="ctr"/>
            <a:r>
              <a:rPr lang="en-IN" sz="2000" dirty="0"/>
              <a:t>SUDHAKAR FERNANDO </a:t>
            </a:r>
          </a:p>
          <a:p>
            <a:pPr algn="ctr"/>
            <a:r>
              <a:rPr lang="en-IN" sz="2000" dirty="0"/>
              <a:t>22-02-2026 11:59 PM </a:t>
            </a:r>
            <a:endParaRPr lang="en-IN" sz="2800" dirty="0"/>
          </a:p>
          <a:p>
            <a:pPr algn="ctr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EB45DA-6444-51E2-74A9-31080DD79A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27020" y="64770"/>
            <a:ext cx="2501033" cy="131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716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228600" y="137160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3749040" y="1554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749040" y="2240280"/>
            <a:ext cx="109728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374904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fields and raw data structure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Group Work Data Analysis Report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3152"/>
            <a:ext cx="6858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Tables Overview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73152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Data Overview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74320" y="685800"/>
            <a:ext cx="4160520" cy="6400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411480" y="7772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Orders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795528"/>
            <a:ext cx="1005840" cy="201168"/>
          </a:xfrm>
          <a:prstGeom prst="rect">
            <a:avLst/>
          </a:prstGeom>
          <a:solidFill>
            <a:srgbClr val="0D7C8F">
              <a:alpha val="15000"/>
            </a:srgbClr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3246120" y="7955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11480" y="1088136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ID, Order Date, Ship Date, Ship Mode, Segment, Country, Region, Category, Sub-Category, Sales, Quantity, Discount, Profit, Market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039112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Shape 13"/>
          <p:cNvSpPr/>
          <p:nvPr/>
        </p:nvSpPr>
        <p:spPr>
          <a:xfrm>
            <a:off x="274320" y="2039112"/>
            <a:ext cx="4160520" cy="64008"/>
          </a:xfrm>
          <a:prstGeom prst="rect">
            <a:avLst/>
          </a:prstGeom>
          <a:solidFill>
            <a:srgbClr val="14A8BE"/>
          </a:solidFill>
          <a:ln w="12700">
            <a:solidFill>
              <a:srgbClr val="14A8B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411480" y="21305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🏷️  DimProduct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2148840"/>
            <a:ext cx="1005840" cy="201168"/>
          </a:xfrm>
          <a:prstGeom prst="rect">
            <a:avLst/>
          </a:prstGeom>
          <a:solidFill>
            <a:srgbClr val="14A8BE">
              <a:alpha val="15000"/>
            </a:srgbClr>
          </a:solidFill>
          <a:ln w="12700">
            <a:solidFill>
              <a:srgbClr val="14A8B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3246120" y="2148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4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11480" y="244144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ID, Category, Sub-Category, Product Name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392424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1" name="Shape 19"/>
          <p:cNvSpPr/>
          <p:nvPr/>
        </p:nvSpPr>
        <p:spPr>
          <a:xfrm>
            <a:off x="274320" y="3392424"/>
            <a:ext cx="416052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Text 20"/>
          <p:cNvSpPr/>
          <p:nvPr/>
        </p:nvSpPr>
        <p:spPr>
          <a:xfrm>
            <a:off x="411480" y="34838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👤  People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46120" y="3502152"/>
            <a:ext cx="1005840" cy="201168"/>
          </a:xfrm>
          <a:prstGeom prst="rect">
            <a:avLst/>
          </a:prstGeom>
          <a:solidFill>
            <a:srgbClr val="E8A838">
              <a:alpha val="15000"/>
            </a:srgbClr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4" name="Text 22"/>
          <p:cNvSpPr/>
          <p:nvPr/>
        </p:nvSpPr>
        <p:spPr>
          <a:xfrm>
            <a:off x="3246120" y="35021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11480" y="379476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Person, Region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6858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7" name="Shape 25"/>
          <p:cNvSpPr/>
          <p:nvPr/>
        </p:nvSpPr>
        <p:spPr>
          <a:xfrm>
            <a:off x="4709160" y="685800"/>
            <a:ext cx="41605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8" name="Text 26"/>
          <p:cNvSpPr/>
          <p:nvPr/>
        </p:nvSpPr>
        <p:spPr>
          <a:xfrm>
            <a:off x="4846320" y="7772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↩️  Returns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80960" y="795528"/>
            <a:ext cx="1005840" cy="201168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0" name="Text 28"/>
          <p:cNvSpPr/>
          <p:nvPr/>
        </p:nvSpPr>
        <p:spPr>
          <a:xfrm>
            <a:off x="7680960" y="7955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(lookup)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46320" y="1088136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Returned, Order ID, Market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9160" y="2039112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3" name="Shape 31"/>
          <p:cNvSpPr/>
          <p:nvPr/>
        </p:nvSpPr>
        <p:spPr>
          <a:xfrm>
            <a:off x="4709160" y="2039112"/>
            <a:ext cx="41605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4" name="Text 32"/>
          <p:cNvSpPr/>
          <p:nvPr/>
        </p:nvSpPr>
        <p:spPr>
          <a:xfrm>
            <a:off x="4846320" y="21305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📅  Date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680960" y="2148840"/>
            <a:ext cx="1005840" cy="201168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6" name="Text 34"/>
          <p:cNvSpPr/>
          <p:nvPr/>
        </p:nvSpPr>
        <p:spPr>
          <a:xfrm>
            <a:off x="7680960" y="2148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Dimension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846320" y="244144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Year, Quarter, Month, Day (auto-generated date table)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Group Work Data Analysis Report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3152"/>
            <a:ext cx="6858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Measures &amp; KPI Fields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73152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Data Overview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74320" y="685800"/>
            <a:ext cx="54864" cy="100584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411480" y="777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9784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TotalSales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" y="1344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 – sum of all sales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23160" y="68580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4" name="Shape 12"/>
          <p:cNvSpPr/>
          <p:nvPr/>
        </p:nvSpPr>
        <p:spPr>
          <a:xfrm>
            <a:off x="2423160" y="685800"/>
            <a:ext cx="54864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2560320" y="777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60320" y="9784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TotalProfit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60320" y="1344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 – aggregated net profit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0" y="68580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9" name="Shape 17"/>
          <p:cNvSpPr/>
          <p:nvPr/>
        </p:nvSpPr>
        <p:spPr>
          <a:xfrm>
            <a:off x="4572000" y="685800"/>
            <a:ext cx="54864" cy="10058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4709160" y="777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 YEAR SALES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09160" y="9784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PreviousYearSales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09160" y="1344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intelligence measure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733032" y="68580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4" name="Shape 22"/>
          <p:cNvSpPr/>
          <p:nvPr/>
        </p:nvSpPr>
        <p:spPr>
          <a:xfrm>
            <a:off x="6720840" y="685800"/>
            <a:ext cx="54864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Text 23"/>
          <p:cNvSpPr/>
          <p:nvPr/>
        </p:nvSpPr>
        <p:spPr>
          <a:xfrm>
            <a:off x="6858000" y="777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0" y="978408"/>
            <a:ext cx="24612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YearOverYearGrowth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1344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% comparison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569720" y="316382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AFC27D9-55C6-E585-D441-4D0F120A2635}"/>
              </a:ext>
            </a:extLst>
          </p:cNvPr>
          <p:cNvSpPr txBox="1"/>
          <p:nvPr/>
        </p:nvSpPr>
        <p:spPr>
          <a:xfrm>
            <a:off x="228600" y="1728216"/>
            <a:ext cx="866546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This section represents the key performance indicators (KPIs) used to evaluate the business performance and the growth patterns.</a:t>
            </a:r>
          </a:p>
          <a:p>
            <a:r>
              <a:rPr lang="en-US" sz="1400" b="1" dirty="0"/>
              <a:t>Total Sales </a:t>
            </a:r>
            <a:r>
              <a:rPr lang="en-US" sz="1400" dirty="0"/>
              <a:t>represents the overall revenue generated from all the transactions.it serves as an initial indicator of business volume and demand in market.</a:t>
            </a:r>
          </a:p>
          <a:p>
            <a:r>
              <a:rPr lang="en-US" sz="1400" b="1" dirty="0"/>
              <a:t>Total Profit </a:t>
            </a:r>
            <a:r>
              <a:rPr lang="en-US" sz="1400" dirty="0"/>
              <a:t>is the measure of net financial profit after accounting the costs and discounts.it showcases the economic efficiency of sales activities and supports profitability .</a:t>
            </a:r>
            <a:br>
              <a:rPr lang="en-US" sz="1400" dirty="0"/>
            </a:br>
            <a:r>
              <a:rPr lang="en-US" sz="1400" b="1" dirty="0"/>
              <a:t>Previous Year Sales </a:t>
            </a:r>
            <a:r>
              <a:rPr lang="en-US" sz="1400" dirty="0"/>
              <a:t>is a time – intelligence measure which captures the sales performance for the same intervals in the prior year. It helps in comparing the historical sales and recent growth respectively.</a:t>
            </a:r>
          </a:p>
          <a:p>
            <a:r>
              <a:rPr lang="en-US" sz="1400" b="1" dirty="0"/>
              <a:t>Year-over-Year (YoY) </a:t>
            </a:r>
            <a:r>
              <a:rPr lang="en-US" sz="1400" dirty="0"/>
              <a:t>calculates the ratio of change in sales between current and previous year. IT provides clear insights about dynamic growth and different trends.</a:t>
            </a:r>
          </a:p>
          <a:p>
            <a:r>
              <a:rPr lang="en-US" sz="1400" dirty="0"/>
              <a:t>All together these KPIs boosts multidimensional performance evaluation by combining absolute metrics (sales and profit) with  comparative metrics(YoY) growth, making these a great support for the strategic and operational decision-making.</a:t>
            </a:r>
            <a:endParaRPr lang="en-IN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228600" y="137160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3749040" y="1554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TRANSFORMATIONS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749040" y="2240280"/>
            <a:ext cx="109728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374904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steps &amp; DAX calculations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Group Work Data Analysis Report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3152"/>
            <a:ext cx="6858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Query – Data Transformation Steps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73152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Transformations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74320" y="685800"/>
            <a:ext cx="4160520" cy="6400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84048" y="7955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📂  1. Data Ingestion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1088136"/>
            <a:ext cx="3959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Orders, Returns, People and DimProduct tables from CSV/Excel source files via Power Query connectors.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6858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Shape 11"/>
          <p:cNvSpPr/>
          <p:nvPr/>
        </p:nvSpPr>
        <p:spPr>
          <a:xfrm>
            <a:off x="4709160" y="685800"/>
            <a:ext cx="4160520" cy="64008"/>
          </a:xfrm>
          <a:prstGeom prst="rect">
            <a:avLst/>
          </a:prstGeom>
          <a:solidFill>
            <a:srgbClr val="14A8BE"/>
          </a:solidFill>
          <a:ln w="12700">
            <a:solidFill>
              <a:srgbClr val="14A8B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4818888" y="7955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🔤  2. Column Renaming &amp; Type Assignment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18888" y="1088136"/>
            <a:ext cx="3959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raw column headers for clarity. Assigned explicit data types: Date for Order/Ship Date, Decimal Number for Sales/Profit/Discount, Whole Number for Quantity.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039112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Shape 15"/>
          <p:cNvSpPr/>
          <p:nvPr/>
        </p:nvSpPr>
        <p:spPr>
          <a:xfrm>
            <a:off x="274320" y="2039112"/>
            <a:ext cx="416052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384048" y="21488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3. Merging / Joining Tables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" y="2441448"/>
            <a:ext cx="3959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joined to DimProduct on Product ID to bring in Category and Sub-Category fields. Returns integrated via Order ID for return analysis.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039112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1" name="Shape 19"/>
          <p:cNvSpPr/>
          <p:nvPr/>
        </p:nvSpPr>
        <p:spPr>
          <a:xfrm>
            <a:off x="4709160" y="2039112"/>
            <a:ext cx="416052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Text 20"/>
          <p:cNvSpPr/>
          <p:nvPr/>
        </p:nvSpPr>
        <p:spPr>
          <a:xfrm>
            <a:off x="4818888" y="21488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🗺️  4. Geo Hierarchy Construction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18888" y="2441448"/>
            <a:ext cx="3959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Geo Hierarchy across Market → Region → Country fields in the Orders table to enable drill-down in map and chart visuals.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392424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5" name="Shape 23"/>
          <p:cNvSpPr/>
          <p:nvPr/>
        </p:nvSpPr>
        <p:spPr>
          <a:xfrm>
            <a:off x="274320" y="3392424"/>
            <a:ext cx="41605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6" name="Text 24"/>
          <p:cNvSpPr/>
          <p:nvPr/>
        </p:nvSpPr>
        <p:spPr>
          <a:xfrm>
            <a:off x="384048" y="35021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📅  5. Date Table Creation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4048" y="3794760"/>
            <a:ext cx="3959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Date dimension table (Date, Year, Quarter, Month, Day) and marked it as the official date table. Linked to Orders[Order Date] for time intelligence.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3392424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9" name="Shape 27"/>
          <p:cNvSpPr/>
          <p:nvPr/>
        </p:nvSpPr>
        <p:spPr>
          <a:xfrm>
            <a:off x="4709160" y="3392424"/>
            <a:ext cx="41605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0" name="Text 28"/>
          <p:cNvSpPr/>
          <p:nvPr/>
        </p:nvSpPr>
        <p:spPr>
          <a:xfrm>
            <a:off x="4818888" y="35021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🧹  6. Null Handling &amp; Filtering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18888" y="3794760"/>
            <a:ext cx="3959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rows with null Order IDs. Filtered out cancelled/invalid orders. Applied data quality rules to ensure referential integrity.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228600" y="137160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3749040" y="1554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MODELLING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749040" y="2240280"/>
            <a:ext cx="109728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374904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structure &amp; table relationships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Group Work Data Analysis Report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3152"/>
            <a:ext cx="6858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Model – Star Schema Approach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73152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Data Modelling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0" y="1719072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766560" y="173736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56032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0" y="37490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1737360"/>
            <a:ext cx="0" cy="0"/>
          </a:xfrm>
          <a:prstGeom prst="line">
            <a:avLst/>
          </a:prstGeom>
          <a:noFill/>
          <a:ln w="19050">
            <a:solidFill>
              <a:srgbClr val="E8A838"/>
            </a:solidFill>
            <a:prstDash val="dash"/>
          </a:ln>
        </p:spPr>
        <p:txBody>
          <a:bodyPr/>
          <a:lstStyle/>
          <a:p>
            <a:endParaRPr lang="en-IN" dirty="0"/>
          </a:p>
        </p:txBody>
      </p:sp>
      <p:sp>
        <p:nvSpPr>
          <p:cNvPr id="26" name="Text 24"/>
          <p:cNvSpPr/>
          <p:nvPr/>
        </p:nvSpPr>
        <p:spPr>
          <a:xfrm>
            <a:off x="274320" y="36985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Relationship</a:t>
            </a:r>
            <a:r>
              <a:rPr lang="en-US" sz="95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Types:</a:t>
            </a:r>
            <a:endParaRPr lang="en-US" sz="9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7DA4EE0-A333-5F6D-2B3F-DD6D10C0E9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202"/>
          <a:stretch>
            <a:fillRect/>
          </a:stretch>
        </p:blipFill>
        <p:spPr>
          <a:xfrm>
            <a:off x="1240537" y="621927"/>
            <a:ext cx="6662925" cy="298756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F0BCFA7-9C6F-EFC6-ADCD-01ADFE0F0F2E}"/>
              </a:ext>
            </a:extLst>
          </p:cNvPr>
          <p:cNvSpPr txBox="1"/>
          <p:nvPr/>
        </p:nvSpPr>
        <p:spPr>
          <a:xfrm>
            <a:off x="182880" y="3876640"/>
            <a:ext cx="541782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Orders &lt;-&gt; Returns :One-to-Many </a:t>
            </a:r>
          </a:p>
          <a:p>
            <a:r>
              <a:rPr lang="en-US" sz="1200" dirty="0"/>
              <a:t>Orders &lt;-&gt; DimProduct :Many-to-One </a:t>
            </a:r>
          </a:p>
          <a:p>
            <a:r>
              <a:rPr lang="en-US" sz="1200" dirty="0"/>
              <a:t>Orders &lt;-&gt; People : Many-to-One</a:t>
            </a:r>
          </a:p>
          <a:p>
            <a:r>
              <a:rPr lang="en-US" sz="1200" dirty="0"/>
              <a:t>Orders &lt;-&gt; Date :Many-to-One </a:t>
            </a:r>
          </a:p>
          <a:p>
            <a:r>
              <a:rPr lang="en-US" sz="1200" b="1" dirty="0"/>
              <a:t>Overall Model Type:</a:t>
            </a:r>
            <a:r>
              <a:rPr lang="en-US" sz="1200" dirty="0"/>
              <a:t> Star Schema (Orders = Fact table; others = Dimension tables)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228600" y="137160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3749040" y="1554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VISUALS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749040" y="2240280"/>
            <a:ext cx="109728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374904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chart shows, why it was chosen &amp; how it works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5B8CC8-B25F-B11D-9EEC-B2A058D47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697517"/>
              </p:ext>
            </p:extLst>
          </p:nvPr>
        </p:nvGraphicFramePr>
        <p:xfrm>
          <a:off x="243839" y="684530"/>
          <a:ext cx="8656322" cy="423494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328161">
                  <a:extLst>
                    <a:ext uri="{9D8B030D-6E8A-4147-A177-3AD203B41FA5}">
                      <a16:colId xmlns:a16="http://schemas.microsoft.com/office/drawing/2014/main" val="2611250426"/>
                    </a:ext>
                  </a:extLst>
                </a:gridCol>
                <a:gridCol w="4328161">
                  <a:extLst>
                    <a:ext uri="{9D8B030D-6E8A-4147-A177-3AD203B41FA5}">
                      <a16:colId xmlns:a16="http://schemas.microsoft.com/office/drawing/2014/main" val="3919607053"/>
                    </a:ext>
                  </a:extLst>
                </a:gridCol>
              </a:tblGrid>
              <a:tr h="211747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903132"/>
                  </a:ext>
                </a:extLst>
              </a:tr>
              <a:tr h="211747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36677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4CF1E33-5C55-935E-FFA6-3DE1D131E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799203"/>
            <a:ext cx="4164203" cy="1851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7ECDC6-5B85-CB5E-5412-8CACF07E9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3" y="799203"/>
            <a:ext cx="4114797" cy="1851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D84572-C1B6-D20E-853E-5580F0F11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9" y="2955445"/>
            <a:ext cx="3980689" cy="18513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771BCF-865B-91C5-B293-8DB14F33CA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4" y="2955445"/>
            <a:ext cx="4114797" cy="18513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FA46925-796E-9CCF-6F87-CC024E7BB0E6}"/>
              </a:ext>
            </a:extLst>
          </p:cNvPr>
          <p:cNvSpPr/>
          <p:nvPr/>
        </p:nvSpPr>
        <p:spPr>
          <a:xfrm>
            <a:off x="1878330" y="118003"/>
            <a:ext cx="493623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accent3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Year 2012</a:t>
            </a:r>
          </a:p>
        </p:txBody>
      </p:sp>
    </p:spTree>
    <p:extLst>
      <p:ext uri="{BB962C8B-B14F-4D97-AF65-F5344CB8AC3E}">
        <p14:creationId xmlns:p14="http://schemas.microsoft.com/office/powerpoint/2010/main" val="3930430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E92FD44-D479-738E-906E-7014E5816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033247"/>
              </p:ext>
            </p:extLst>
          </p:nvPr>
        </p:nvGraphicFramePr>
        <p:xfrm>
          <a:off x="258098" y="1158240"/>
          <a:ext cx="8615680" cy="332232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307840">
                  <a:extLst>
                    <a:ext uri="{9D8B030D-6E8A-4147-A177-3AD203B41FA5}">
                      <a16:colId xmlns:a16="http://schemas.microsoft.com/office/drawing/2014/main" val="2696648083"/>
                    </a:ext>
                  </a:extLst>
                </a:gridCol>
                <a:gridCol w="4307840">
                  <a:extLst>
                    <a:ext uri="{9D8B030D-6E8A-4147-A177-3AD203B41FA5}">
                      <a16:colId xmlns:a16="http://schemas.microsoft.com/office/drawing/2014/main" val="1147799106"/>
                    </a:ext>
                  </a:extLst>
                </a:gridCol>
              </a:tblGrid>
              <a:tr h="3322321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59623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16822F0-6CCF-F3EB-13EA-B5FD263D8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22" y="1295400"/>
            <a:ext cx="4100542" cy="304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8236CB-2295-A91D-C212-993443BCA6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041"/>
          <a:stretch>
            <a:fillRect/>
          </a:stretch>
        </p:blipFill>
        <p:spPr>
          <a:xfrm>
            <a:off x="4718304" y="1295401"/>
            <a:ext cx="4100542" cy="304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098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F22D028-FDE9-4E42-6500-F4B2377285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512257"/>
              </p:ext>
            </p:extLst>
          </p:nvPr>
        </p:nvGraphicFramePr>
        <p:xfrm>
          <a:off x="237744" y="792480"/>
          <a:ext cx="8738618" cy="42976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369309">
                  <a:extLst>
                    <a:ext uri="{9D8B030D-6E8A-4147-A177-3AD203B41FA5}">
                      <a16:colId xmlns:a16="http://schemas.microsoft.com/office/drawing/2014/main" val="1123461286"/>
                    </a:ext>
                  </a:extLst>
                </a:gridCol>
                <a:gridCol w="4369309">
                  <a:extLst>
                    <a:ext uri="{9D8B030D-6E8A-4147-A177-3AD203B41FA5}">
                      <a16:colId xmlns:a16="http://schemas.microsoft.com/office/drawing/2014/main" val="3673456107"/>
                    </a:ext>
                  </a:extLst>
                </a:gridCol>
              </a:tblGrid>
              <a:tr h="2148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561392"/>
                  </a:ext>
                </a:extLst>
              </a:tr>
              <a:tr h="2148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36094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4D3C6AF-65F8-997B-AE55-B1186A9FE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6" y="949453"/>
            <a:ext cx="4130166" cy="18181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22617C-5185-D9D0-D20E-131E2900D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48" y="3032760"/>
            <a:ext cx="4149911" cy="19070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CF34DA-F3B8-4D27-17F8-CA743D0CE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5" y="3032762"/>
            <a:ext cx="4149911" cy="19070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EDB8D1-AB43-E01E-8757-59B84DACDE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649" y="949453"/>
            <a:ext cx="4149911" cy="18623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A22106-01B5-D6B5-1031-AC98F19D768B}"/>
              </a:ext>
            </a:extLst>
          </p:cNvPr>
          <p:cNvSpPr txBox="1"/>
          <p:nvPr/>
        </p:nvSpPr>
        <p:spPr>
          <a:xfrm>
            <a:off x="2194560" y="22032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accent3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Year 2013</a:t>
            </a:r>
          </a:p>
        </p:txBody>
      </p:sp>
    </p:spTree>
    <p:extLst>
      <p:ext uri="{BB962C8B-B14F-4D97-AF65-F5344CB8AC3E}">
        <p14:creationId xmlns:p14="http://schemas.microsoft.com/office/powerpoint/2010/main" val="1316928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1C3D557-C548-1C22-13E6-171D468C0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672657"/>
              </p:ext>
            </p:extLst>
          </p:nvPr>
        </p:nvGraphicFramePr>
        <p:xfrm>
          <a:off x="314958" y="1104900"/>
          <a:ext cx="8605522" cy="34366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295142">
                  <a:extLst>
                    <a:ext uri="{9D8B030D-6E8A-4147-A177-3AD203B41FA5}">
                      <a16:colId xmlns:a16="http://schemas.microsoft.com/office/drawing/2014/main" val="757827254"/>
                    </a:ext>
                  </a:extLst>
                </a:gridCol>
                <a:gridCol w="4310380">
                  <a:extLst>
                    <a:ext uri="{9D8B030D-6E8A-4147-A177-3AD203B41FA5}">
                      <a16:colId xmlns:a16="http://schemas.microsoft.com/office/drawing/2014/main" val="131791212"/>
                    </a:ext>
                  </a:extLst>
                </a:gridCol>
              </a:tblGrid>
              <a:tr h="343662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95996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5A00E393-0364-B3C7-8655-DF0E2BA4D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558" y="1287780"/>
            <a:ext cx="4094484" cy="30708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A21242-E08A-FD8E-B2A2-B214314FE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77" y="1287780"/>
            <a:ext cx="4120644" cy="307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016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B78A9A-F4EA-4410-6C7D-037B67604A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110019"/>
              </p:ext>
            </p:extLst>
          </p:nvPr>
        </p:nvGraphicFramePr>
        <p:xfrm>
          <a:off x="230124" y="600710"/>
          <a:ext cx="8670036" cy="432625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335018">
                  <a:extLst>
                    <a:ext uri="{9D8B030D-6E8A-4147-A177-3AD203B41FA5}">
                      <a16:colId xmlns:a16="http://schemas.microsoft.com/office/drawing/2014/main" val="92996970"/>
                    </a:ext>
                  </a:extLst>
                </a:gridCol>
                <a:gridCol w="4335018">
                  <a:extLst>
                    <a:ext uri="{9D8B030D-6E8A-4147-A177-3AD203B41FA5}">
                      <a16:colId xmlns:a16="http://schemas.microsoft.com/office/drawing/2014/main" val="2865866673"/>
                    </a:ext>
                  </a:extLst>
                </a:gridCol>
              </a:tblGrid>
              <a:tr h="21631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162181"/>
                  </a:ext>
                </a:extLst>
              </a:tr>
              <a:tr h="21631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6622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FB4BB70-308E-B399-CF07-290BD6EE4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58" y="634967"/>
            <a:ext cx="4161499" cy="20726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C302E4-E55A-9B26-D5C3-2E0F66A1B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936" y="634968"/>
            <a:ext cx="4161499" cy="20726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D3FE3D-B7C6-35E1-678B-5DCDD8672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64" y="2825164"/>
            <a:ext cx="4161499" cy="19893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AF5495-04EB-C129-DA0A-D2293D1E52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937" y="2819081"/>
            <a:ext cx="4161500" cy="19954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D832EE-BC23-EBBF-7611-6CD168643C9F}"/>
              </a:ext>
            </a:extLst>
          </p:cNvPr>
          <p:cNvSpPr txBox="1"/>
          <p:nvPr/>
        </p:nvSpPr>
        <p:spPr>
          <a:xfrm>
            <a:off x="2244090" y="9817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accent3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Year 2014</a:t>
            </a:r>
          </a:p>
        </p:txBody>
      </p:sp>
    </p:spTree>
    <p:extLst>
      <p:ext uri="{BB962C8B-B14F-4D97-AF65-F5344CB8AC3E}">
        <p14:creationId xmlns:p14="http://schemas.microsoft.com/office/powerpoint/2010/main" val="2549740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C6F8A0A-428E-F701-B977-F2E935AF0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202805"/>
              </p:ext>
            </p:extLst>
          </p:nvPr>
        </p:nvGraphicFramePr>
        <p:xfrm>
          <a:off x="256856" y="881063"/>
          <a:ext cx="8749984" cy="366045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374992">
                  <a:extLst>
                    <a:ext uri="{9D8B030D-6E8A-4147-A177-3AD203B41FA5}">
                      <a16:colId xmlns:a16="http://schemas.microsoft.com/office/drawing/2014/main" val="4050728956"/>
                    </a:ext>
                  </a:extLst>
                </a:gridCol>
                <a:gridCol w="4374992">
                  <a:extLst>
                    <a:ext uri="{9D8B030D-6E8A-4147-A177-3AD203B41FA5}">
                      <a16:colId xmlns:a16="http://schemas.microsoft.com/office/drawing/2014/main" val="1458856519"/>
                    </a:ext>
                  </a:extLst>
                </a:gridCol>
              </a:tblGrid>
              <a:tr h="366045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28290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831164D-FD7B-4379-1E46-31BD1C124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13" y="1064872"/>
            <a:ext cx="4200523" cy="33090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B3046B-9B01-AF7E-B378-1920A9073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620" y="1064872"/>
            <a:ext cx="4200523" cy="330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371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55895A-C3A9-674E-B3DA-3274F39F6D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749587"/>
              </p:ext>
            </p:extLst>
          </p:nvPr>
        </p:nvGraphicFramePr>
        <p:xfrm>
          <a:off x="243840" y="541020"/>
          <a:ext cx="8674608" cy="438859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337304">
                  <a:extLst>
                    <a:ext uri="{9D8B030D-6E8A-4147-A177-3AD203B41FA5}">
                      <a16:colId xmlns:a16="http://schemas.microsoft.com/office/drawing/2014/main" val="2408973672"/>
                    </a:ext>
                  </a:extLst>
                </a:gridCol>
                <a:gridCol w="4337304">
                  <a:extLst>
                    <a:ext uri="{9D8B030D-6E8A-4147-A177-3AD203B41FA5}">
                      <a16:colId xmlns:a16="http://schemas.microsoft.com/office/drawing/2014/main" val="1966836522"/>
                    </a:ext>
                  </a:extLst>
                </a:gridCol>
              </a:tblGrid>
              <a:tr h="219429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814475"/>
                  </a:ext>
                </a:extLst>
              </a:tr>
              <a:tr h="219429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29292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7459376-9AE4-BCD0-9A96-CDF846F1E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05" y="670560"/>
            <a:ext cx="4206875" cy="19507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E345FB-8A96-02CC-4566-B0952C806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121" y="670560"/>
            <a:ext cx="4206873" cy="19507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6E40B6-D27D-1EBB-F733-D67211C8C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004" y="2844802"/>
            <a:ext cx="4206875" cy="20116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51A688-3DDD-BBC8-9828-06CA02E0B8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2208" y="2802365"/>
            <a:ext cx="4137786" cy="20848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57B54B-5483-15E6-3B2C-0AC3F0D45FBD}"/>
              </a:ext>
            </a:extLst>
          </p:cNvPr>
          <p:cNvSpPr txBox="1"/>
          <p:nvPr/>
        </p:nvSpPr>
        <p:spPr>
          <a:xfrm>
            <a:off x="2077720" y="109599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accent3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Year 2015</a:t>
            </a:r>
          </a:p>
        </p:txBody>
      </p:sp>
    </p:spTree>
    <p:extLst>
      <p:ext uri="{BB962C8B-B14F-4D97-AF65-F5344CB8AC3E}">
        <p14:creationId xmlns:p14="http://schemas.microsoft.com/office/powerpoint/2010/main" val="3749316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99CDD1-B16E-C7C6-7C2E-8F75F525C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035565"/>
              </p:ext>
            </p:extLst>
          </p:nvPr>
        </p:nvGraphicFramePr>
        <p:xfrm>
          <a:off x="208343" y="844952"/>
          <a:ext cx="8727314" cy="370389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363657">
                  <a:extLst>
                    <a:ext uri="{9D8B030D-6E8A-4147-A177-3AD203B41FA5}">
                      <a16:colId xmlns:a16="http://schemas.microsoft.com/office/drawing/2014/main" val="977499508"/>
                    </a:ext>
                  </a:extLst>
                </a:gridCol>
                <a:gridCol w="4363657">
                  <a:extLst>
                    <a:ext uri="{9D8B030D-6E8A-4147-A177-3AD203B41FA5}">
                      <a16:colId xmlns:a16="http://schemas.microsoft.com/office/drawing/2014/main" val="3810563157"/>
                    </a:ext>
                  </a:extLst>
                </a:gridCol>
              </a:tblGrid>
              <a:tr h="370389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57754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9AE91E1-F087-0138-1A01-6D8A7E6C4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86" y="972274"/>
            <a:ext cx="4092492" cy="34724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793968-FA8C-4B7F-69A2-E02D32435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424" y="972273"/>
            <a:ext cx="4157027" cy="347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98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Group Work Data Analysis Report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3152"/>
            <a:ext cx="6858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1 – Sales Overview: What · Why · How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73152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Visual Explanation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74320" y="658368"/>
            <a:ext cx="4160520" cy="6400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84048" y="76809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 KPI Card – Total Sales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10424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31520" y="104241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[</a:t>
            </a:r>
            <a:r>
              <a:rPr lang="en-US" sz="7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totalsales</a:t>
            </a: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DAX measure as a single large number.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4048" y="131673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31520" y="131673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communicates the headline revenue figure at a glance.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84048" y="15910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31520" y="159105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visual bound to Orders[</a:t>
            </a:r>
            <a:r>
              <a:rPr lang="en-US" sz="7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totalsales</a:t>
            </a: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709160" y="658368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8" name="Shape 16"/>
          <p:cNvSpPr/>
          <p:nvPr/>
        </p:nvSpPr>
        <p:spPr>
          <a:xfrm>
            <a:off x="4709160" y="658368"/>
            <a:ext cx="41605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4818888" y="76809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KPI Card – Total Quantity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18888" y="10424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166360" y="104241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aggregated SUM(Orders[Quantity]) across all orders.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18888" y="131673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166360" y="131673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volume independently of revenue – useful for unit economics.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818888" y="15910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166360" y="159105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visual using implicit SUM aggregation on Quantity field.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01168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7" name="Shape 25"/>
          <p:cNvSpPr/>
          <p:nvPr/>
        </p:nvSpPr>
        <p:spPr>
          <a:xfrm>
            <a:off x="274320" y="2011680"/>
            <a:ext cx="416052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8" name="Text 26"/>
          <p:cNvSpPr/>
          <p:nvPr/>
        </p:nvSpPr>
        <p:spPr>
          <a:xfrm>
            <a:off x="384048" y="21214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Column Chart – Sales by Region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4048" y="23957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31520" y="239572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bars comparing total sales for each geographic region.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84048" y="267004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31520" y="267004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comparison of regional performance; bar length encodes magnitude precisely.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84048" y="294436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31520" y="294436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 · X: Geo Hierarchy[Region] · Y: SUM(Sales). Drill-down enabled.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709160" y="201168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6" name="Shape 34"/>
          <p:cNvSpPr/>
          <p:nvPr/>
        </p:nvSpPr>
        <p:spPr>
          <a:xfrm>
            <a:off x="4709160" y="2011680"/>
            <a:ext cx="416052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7" name="Text 35"/>
          <p:cNvSpPr/>
          <p:nvPr/>
        </p:nvSpPr>
        <p:spPr>
          <a:xfrm>
            <a:off x="4818888" y="21214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🗂️  100% Stacked Bar – Sales by Category &amp; Country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18888" y="23957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166360" y="239572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proportional split of sales by product category, coloured by country.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18888" y="267004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166360" y="267004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how each product category's country mix compares – part-to-whole insight.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818888" y="294436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166360" y="294436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 · Category: DimProduct[Category] · Y: Sales · Series: Country. Labels on.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3364992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5" name="Shape 43"/>
          <p:cNvSpPr/>
          <p:nvPr/>
        </p:nvSpPr>
        <p:spPr>
          <a:xfrm>
            <a:off x="274320" y="3364992"/>
            <a:ext cx="41605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6" name="Text 44"/>
          <p:cNvSpPr/>
          <p:nvPr/>
        </p:nvSpPr>
        <p:spPr>
          <a:xfrm>
            <a:off x="384048" y="347472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Combo Chart – Sales &amp; Profit by Sub-Category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84048" y="374904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31520" y="374904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for Sales and a line overlay for Profit across product sub-categories.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84048" y="40233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31520" y="402336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 allows profit margin to be compared against sales volume in one view.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84048" y="42976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31520" y="429768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lineStackedColumnComboChart · Y: SUM(Sales) · Y2: SUM(Profit) · Cat: Sub-Category.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709160" y="3364992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4" name="Shape 52"/>
          <p:cNvSpPr/>
          <p:nvPr/>
        </p:nvSpPr>
        <p:spPr>
          <a:xfrm>
            <a:off x="4709160" y="3364992"/>
            <a:ext cx="4160520" cy="64008"/>
          </a:xfrm>
          <a:prstGeom prst="rect">
            <a:avLst/>
          </a:prstGeom>
          <a:solidFill>
            <a:srgbClr val="14A8BE"/>
          </a:solidFill>
          <a:ln w="12700">
            <a:solidFill>
              <a:srgbClr val="14A8B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5" name="Text 53"/>
          <p:cNvSpPr/>
          <p:nvPr/>
        </p:nvSpPr>
        <p:spPr>
          <a:xfrm>
            <a:off x="4818888" y="347472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🟦  Treemap – Quantity by Country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818888" y="374904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14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166360" y="374904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rectangles showing the proportional quantity sold in each country.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818888" y="40233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14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166360" y="402336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 handles many geographic values efficiently, showing size hierarchy visually.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818888" y="42976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14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166360" y="429768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 · Group: Geo Hierarchy[Country] · Values: SUM(Quantity). Area encodes volume.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Group Work Data Analysis Report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3152"/>
            <a:ext cx="6858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2 – Profit Analysis: What · Why · How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73152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Visual Explanation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74320" y="658368"/>
            <a:ext cx="4160520" cy="6400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84048" y="76809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🍩  Donut Chart – Profit by Market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10424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31520" y="104241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chart showing each market's share of total profit.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4048" y="131673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31520" y="131673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charts excel at part-to-whole proportions; the hole reduces clutter vs. a full pie.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84048" y="15910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31520" y="159105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· Y: SUM(Profit) · Category: Orders[Market]. Legend shows market names.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709160" y="658368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8" name="Shape 16"/>
          <p:cNvSpPr/>
          <p:nvPr/>
        </p:nvSpPr>
        <p:spPr>
          <a:xfrm>
            <a:off x="4709160" y="658368"/>
            <a:ext cx="41605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4818888" y="76809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💹  KPI Card – Total Profit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18888" y="10424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166360" y="104241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big-number card for the [TotalProfit] DAX measure.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18888" y="131673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166360" y="131673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an immediate profit headline to anchor the page narrative.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818888" y="15910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166360" y="159105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visual · Values: Orders[TotalProfit] measure. Custom format string applied.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01168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7" name="Shape 25"/>
          <p:cNvSpPr/>
          <p:nvPr/>
        </p:nvSpPr>
        <p:spPr>
          <a:xfrm>
            <a:off x="274320" y="2011680"/>
            <a:ext cx="416052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8" name="Text 26"/>
          <p:cNvSpPr/>
          <p:nvPr/>
        </p:nvSpPr>
        <p:spPr>
          <a:xfrm>
            <a:off x="384048" y="21214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Pivot Table – Category P&amp;L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4048" y="23957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31520" y="239572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 showing Category rows vs Sales, Profit, Prev Year Sales, and YoY columns.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84048" y="267004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31520" y="267004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are ideal for precise numeric comparison; analysts can read exact figures.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84048" y="294436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31520" y="294436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visual · Rows: Category · Values: Sales, Profit, PreviousYearSales, YearOvereYear.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709160" y="201168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6" name="Shape 34"/>
          <p:cNvSpPr/>
          <p:nvPr/>
        </p:nvSpPr>
        <p:spPr>
          <a:xfrm>
            <a:off x="4709160" y="2011680"/>
            <a:ext cx="416052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7" name="Text 35"/>
          <p:cNvSpPr/>
          <p:nvPr/>
        </p:nvSpPr>
        <p:spPr>
          <a:xfrm>
            <a:off x="4818888" y="21214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📉  Combo Chart – Sales vs PrevYr by Region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18888" y="23957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166360" y="239572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columns for current Sales + previous year Sales, with a line series per Category.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18888" y="267004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166360" y="267004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Dual-series comparison highlights which regions grew or declined year-over-year.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818888" y="294436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166360" y="294436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lineClusteredColumnComboChart · Y: SUM(Sales) · Y2: PreviousYearSales · Series: Category.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3364992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5" name="Shape 43"/>
          <p:cNvSpPr/>
          <p:nvPr/>
        </p:nvSpPr>
        <p:spPr>
          <a:xfrm>
            <a:off x="274320" y="3364992"/>
            <a:ext cx="41605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6" name="Text 44"/>
          <p:cNvSpPr/>
          <p:nvPr/>
        </p:nvSpPr>
        <p:spPr>
          <a:xfrm>
            <a:off x="384048" y="347472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 Area Chart – YoY Growth Over Time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84048" y="374904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31520" y="374904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chart showing YearOvereYear % and PreviousYearSales across calendar years.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84048" y="40233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31520" y="402336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fills emphasise cumulative trend; overlapping bands show two time series at once.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84048" y="42976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31520" y="429768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chart · X: Date[Year] · Y: YearOvereYear · Y2: PreviousYearSales. Dual axis.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709160" y="3364992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4" name="Shape 52"/>
          <p:cNvSpPr/>
          <p:nvPr/>
        </p:nvSpPr>
        <p:spPr>
          <a:xfrm>
            <a:off x="4709160" y="3364992"/>
            <a:ext cx="4160520" cy="64008"/>
          </a:xfrm>
          <a:prstGeom prst="rect">
            <a:avLst/>
          </a:prstGeom>
          <a:solidFill>
            <a:srgbClr val="14A8BE"/>
          </a:solidFill>
          <a:ln w="12700">
            <a:solidFill>
              <a:srgbClr val="14A8B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5" name="Text 53"/>
          <p:cNvSpPr/>
          <p:nvPr/>
        </p:nvSpPr>
        <p:spPr>
          <a:xfrm>
            <a:off x="4818888" y="347472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Year Slicer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818888" y="374904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14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166360" y="374904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 that lets the viewer select a specific year.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818888" y="40233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14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166360" y="402336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Cross-filters all visuals on the page, enabling dynamic what-if year exploration.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818888" y="42976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14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166360" y="429768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· Values: Orders[Order Date] Year hierarchy. Basic mode, single-select.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228600" y="137160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3749040" y="1554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ENCODING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749040" y="2240280"/>
            <a:ext cx="109728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374904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Pre-attentive attributes &amp; design principles applied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A43C71-77CD-178D-0865-5BB8788D60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89" t="1661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9439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263</TotalTime>
  <Words>1419</Words>
  <Application>Microsoft Office PowerPoint</Application>
  <PresentationFormat>On-screen Show (16:9)</PresentationFormat>
  <Paragraphs>206</Paragraphs>
  <Slides>22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Calibri</vt:lpstr>
      <vt:lpstr>Century Gothic</vt:lpstr>
      <vt:lpstr>Garamond</vt:lpstr>
      <vt:lpstr>Trebuchet MS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Group Work – Data Analysis Report</dc:title>
  <dc:subject>PptxGenJS Presentation</dc:subject>
  <dc:creator>PptxGenJS</dc:creator>
  <cp:lastModifiedBy>Kusum Vishwakarma - M01093046</cp:lastModifiedBy>
  <cp:revision>6</cp:revision>
  <dcterms:created xsi:type="dcterms:W3CDTF">2026-02-22T11:33:34Z</dcterms:created>
  <dcterms:modified xsi:type="dcterms:W3CDTF">2026-03-05T11:16:14Z</dcterms:modified>
</cp:coreProperties>
</file>